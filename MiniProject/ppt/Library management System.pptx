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Koho" panose="020B0604020202020204" charset="-34"/>
      <p:regular r:id="rId9"/>
    </p:embeddedFont>
    <p:embeddedFont>
      <p:font typeface="Koho Bold" panose="020B0604020202020204" charset="-34"/>
      <p:regular r:id="rId10"/>
    </p:embeddedFont>
    <p:embeddedFont>
      <p:font typeface="Monda Bold" panose="020B0604020202020204" charset="0"/>
      <p:regular r:id="rId11"/>
    </p:embeddedFont>
    <p:embeddedFont>
      <p:font typeface="Poppins" panose="00000500000000000000" pitchFamily="2" charset="0"/>
      <p:regular r:id="rId12"/>
    </p:embeddedFont>
    <p:embeddedFont>
      <p:font typeface="Poppi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21691" y="3092714"/>
            <a:ext cx="14264144" cy="3334559"/>
          </a:xfrm>
          <a:custGeom>
            <a:avLst/>
            <a:gdLst/>
            <a:ahLst/>
            <a:cxnLst/>
            <a:rect l="l" t="t" r="r" b="b"/>
            <a:pathLst>
              <a:path w="14264144" h="3334559">
                <a:moveTo>
                  <a:pt x="0" y="0"/>
                </a:moveTo>
                <a:lnTo>
                  <a:pt x="14264144" y="0"/>
                </a:lnTo>
                <a:lnTo>
                  <a:pt x="14264144" y="3334559"/>
                </a:lnTo>
                <a:lnTo>
                  <a:pt x="0" y="3334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936" r="-1493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94125" y="3904321"/>
            <a:ext cx="15899751" cy="939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</a:pPr>
            <a:r>
              <a:rPr lang="en-US" sz="7000" b="1" dirty="0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LIBGRAM</a:t>
            </a:r>
          </a:p>
        </p:txBody>
      </p:sp>
      <p:sp>
        <p:nvSpPr>
          <p:cNvPr id="4" name="Freeform 4"/>
          <p:cNvSpPr/>
          <p:nvPr/>
        </p:nvSpPr>
        <p:spPr>
          <a:xfrm>
            <a:off x="2011928" y="2764597"/>
            <a:ext cx="4032452" cy="124639"/>
          </a:xfrm>
          <a:custGeom>
            <a:avLst/>
            <a:gdLst/>
            <a:ahLst/>
            <a:cxnLst/>
            <a:rect l="l" t="t" r="r" b="b"/>
            <a:pathLst>
              <a:path w="4032452" h="124639">
                <a:moveTo>
                  <a:pt x="0" y="0"/>
                </a:moveTo>
                <a:lnTo>
                  <a:pt x="4032452" y="0"/>
                </a:lnTo>
                <a:lnTo>
                  <a:pt x="4032452" y="124640"/>
                </a:lnTo>
                <a:lnTo>
                  <a:pt x="0" y="124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70318" y="6598723"/>
            <a:ext cx="10147364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737373"/>
                </a:solidFill>
                <a:latin typeface="Koho"/>
                <a:ea typeface="Koho"/>
                <a:cs typeface="Koho"/>
                <a:sym typeface="Koho"/>
              </a:rPr>
              <a:t>B4G1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737373"/>
                </a:solidFill>
                <a:latin typeface="Koho"/>
                <a:ea typeface="Koho"/>
                <a:cs typeface="Koho"/>
                <a:sym typeface="Koho"/>
              </a:rPr>
              <a:t>Yeshwant Shetgaonkar 2661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737373"/>
                </a:solidFill>
                <a:latin typeface="Koho"/>
                <a:ea typeface="Koho"/>
                <a:cs typeface="Koho"/>
                <a:sym typeface="Koho"/>
              </a:rPr>
              <a:t> Yash Gaonkar 2660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70318" y="8997950"/>
            <a:ext cx="10147364" cy="26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>
                <a:solidFill>
                  <a:srgbClr val="737373"/>
                </a:solidFill>
                <a:latin typeface="Koho"/>
                <a:ea typeface="Koho"/>
                <a:cs typeface="Koho"/>
                <a:sym typeface="Koho"/>
              </a:rPr>
              <a:t>2026-2027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4125" y="5200650"/>
            <a:ext cx="15899751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</a:pPr>
            <a:r>
              <a:rPr lang="en-US" sz="3500" b="1" dirty="0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A library manager for small village libraries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5470" y="1316424"/>
            <a:ext cx="4832564" cy="869862"/>
          </a:xfrm>
          <a:custGeom>
            <a:avLst/>
            <a:gdLst/>
            <a:ahLst/>
            <a:cxnLst/>
            <a:rect l="l" t="t" r="r" b="b"/>
            <a:pathLst>
              <a:path w="4832564" h="869862">
                <a:moveTo>
                  <a:pt x="0" y="0"/>
                </a:moveTo>
                <a:lnTo>
                  <a:pt x="4832564" y="0"/>
                </a:lnTo>
                <a:lnTo>
                  <a:pt x="4832564" y="869862"/>
                </a:lnTo>
                <a:lnTo>
                  <a:pt x="0" y="86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5526" y="1028700"/>
            <a:ext cx="4032452" cy="124639"/>
          </a:xfrm>
          <a:custGeom>
            <a:avLst/>
            <a:gdLst/>
            <a:ahLst/>
            <a:cxnLst/>
            <a:rect l="l" t="t" r="r" b="b"/>
            <a:pathLst>
              <a:path w="4032452" h="124639">
                <a:moveTo>
                  <a:pt x="0" y="0"/>
                </a:moveTo>
                <a:lnTo>
                  <a:pt x="4032451" y="0"/>
                </a:lnTo>
                <a:lnTo>
                  <a:pt x="4032451" y="124639"/>
                </a:lnTo>
                <a:lnTo>
                  <a:pt x="0" y="124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8405" y="1618803"/>
            <a:ext cx="5386693" cy="31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1"/>
              </a:lnSpc>
            </a:pPr>
            <a:r>
              <a:rPr lang="en-US" sz="2371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82895" y="8762683"/>
            <a:ext cx="1014736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737373"/>
                </a:solidFill>
                <a:latin typeface="Koho"/>
                <a:ea typeface="Koho"/>
                <a:cs typeface="Koho"/>
                <a:sym typeface="Koho"/>
              </a:rPr>
              <a:t>Presented Yeshwant &amp; Yash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74510" y="9117012"/>
            <a:ext cx="10147364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b="1" dirty="0" err="1">
                <a:solidFill>
                  <a:srgbClr val="737373"/>
                </a:solidFill>
                <a:latin typeface="Koho Bold"/>
                <a:ea typeface="Koho Bold"/>
                <a:cs typeface="Koho Bold"/>
                <a:sym typeface="Koho Bold"/>
              </a:rPr>
              <a:t>LibGram</a:t>
            </a:r>
            <a:endParaRPr lang="en-US" sz="2400" b="1" dirty="0">
              <a:solidFill>
                <a:srgbClr val="737373"/>
              </a:solidFill>
              <a:latin typeface="Koho Bold"/>
              <a:ea typeface="Koho Bold"/>
              <a:cs typeface="Koho Bold"/>
              <a:sym typeface="Koh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074510" y="9470072"/>
            <a:ext cx="1014736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800">
                <a:solidFill>
                  <a:srgbClr val="737373"/>
                </a:solidFill>
                <a:latin typeface="Koho"/>
                <a:ea typeface="Koho"/>
                <a:cs typeface="Koho"/>
                <a:sym typeface="Koho"/>
              </a:rPr>
              <a:t>2026-2027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11633272" y="9588182"/>
            <a:ext cx="5895301" cy="19050"/>
          </a:xfrm>
          <a:prstGeom prst="line">
            <a:avLst/>
          </a:prstGeom>
          <a:ln w="38100" cap="flat">
            <a:solidFill>
              <a:srgbClr val="D1D1D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V="1">
            <a:off x="759427" y="9597707"/>
            <a:ext cx="5895301" cy="19050"/>
          </a:xfrm>
          <a:prstGeom prst="line">
            <a:avLst/>
          </a:prstGeom>
          <a:ln w="38100" cap="flat">
            <a:solidFill>
              <a:srgbClr val="D1D1D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2373146" y="4302760"/>
            <a:ext cx="13541707" cy="2348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</a:pPr>
            <a:r>
              <a:rPr lang="en-US" sz="2300">
                <a:solidFill>
                  <a:srgbClr val="4E502E"/>
                </a:solidFill>
                <a:latin typeface="Poppins"/>
                <a:ea typeface="Poppins"/>
                <a:cs typeface="Poppins"/>
                <a:sym typeface="Poppins"/>
              </a:rPr>
              <a:t>This lightweight, intuitive software transitions small village libraries directly from manual, paper-based record keeping to a modern digital system. By replacing physical registers, paper logbooks, and manual filing with an easy-to-use digital work flow, local libraries can effortlessly catalogue books, manage member profiles, and track daily loan. All this without requiring complex training or expensive hardware.</a:t>
            </a:r>
          </a:p>
          <a:p>
            <a:pPr algn="ctr">
              <a:lnSpc>
                <a:spcPts val="2645"/>
              </a:lnSpc>
            </a:pPr>
            <a:endParaRPr lang="en-US" sz="2300">
              <a:solidFill>
                <a:srgbClr val="4E50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645"/>
              </a:lnSpc>
            </a:pPr>
            <a:endParaRPr lang="en-US" sz="2300">
              <a:solidFill>
                <a:srgbClr val="4E50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5470" y="1316424"/>
            <a:ext cx="4832564" cy="869862"/>
          </a:xfrm>
          <a:custGeom>
            <a:avLst/>
            <a:gdLst/>
            <a:ahLst/>
            <a:cxnLst/>
            <a:rect l="l" t="t" r="r" b="b"/>
            <a:pathLst>
              <a:path w="4832564" h="869862">
                <a:moveTo>
                  <a:pt x="0" y="0"/>
                </a:moveTo>
                <a:lnTo>
                  <a:pt x="4832564" y="0"/>
                </a:lnTo>
                <a:lnTo>
                  <a:pt x="4832564" y="869862"/>
                </a:lnTo>
                <a:lnTo>
                  <a:pt x="0" y="86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5526" y="1028700"/>
            <a:ext cx="4032452" cy="124639"/>
          </a:xfrm>
          <a:custGeom>
            <a:avLst/>
            <a:gdLst/>
            <a:ahLst/>
            <a:cxnLst/>
            <a:rect l="l" t="t" r="r" b="b"/>
            <a:pathLst>
              <a:path w="4032452" h="124639">
                <a:moveTo>
                  <a:pt x="0" y="0"/>
                </a:moveTo>
                <a:lnTo>
                  <a:pt x="4032451" y="0"/>
                </a:lnTo>
                <a:lnTo>
                  <a:pt x="4032451" y="124639"/>
                </a:lnTo>
                <a:lnTo>
                  <a:pt x="0" y="124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37085" y="3049356"/>
            <a:ext cx="16213830" cy="6303377"/>
            <a:chOff x="0" y="0"/>
            <a:chExt cx="4270309" cy="16601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0309" cy="1660149"/>
            </a:xfrm>
            <a:custGeom>
              <a:avLst/>
              <a:gdLst/>
              <a:ahLst/>
              <a:cxnLst/>
              <a:rect l="l" t="t" r="r" b="b"/>
              <a:pathLst>
                <a:path w="4270309" h="1660149">
                  <a:moveTo>
                    <a:pt x="7162" y="0"/>
                  </a:moveTo>
                  <a:lnTo>
                    <a:pt x="4263147" y="0"/>
                  </a:lnTo>
                  <a:cubicBezTo>
                    <a:pt x="4265046" y="0"/>
                    <a:pt x="4266868" y="755"/>
                    <a:pt x="4268211" y="2098"/>
                  </a:cubicBezTo>
                  <a:cubicBezTo>
                    <a:pt x="4269555" y="3441"/>
                    <a:pt x="4270309" y="5263"/>
                    <a:pt x="4270309" y="7162"/>
                  </a:cubicBezTo>
                  <a:lnTo>
                    <a:pt x="4270309" y="1652986"/>
                  </a:lnTo>
                  <a:cubicBezTo>
                    <a:pt x="4270309" y="1654886"/>
                    <a:pt x="4269555" y="1656708"/>
                    <a:pt x="4268211" y="1658051"/>
                  </a:cubicBezTo>
                  <a:cubicBezTo>
                    <a:pt x="4266868" y="1659394"/>
                    <a:pt x="4265046" y="1660149"/>
                    <a:pt x="4263147" y="1660149"/>
                  </a:cubicBezTo>
                  <a:lnTo>
                    <a:pt x="7162" y="1660149"/>
                  </a:lnTo>
                  <a:cubicBezTo>
                    <a:pt x="5263" y="1660149"/>
                    <a:pt x="3441" y="1659394"/>
                    <a:pt x="2098" y="1658051"/>
                  </a:cubicBezTo>
                  <a:cubicBezTo>
                    <a:pt x="755" y="1656708"/>
                    <a:pt x="0" y="1654886"/>
                    <a:pt x="0" y="1652986"/>
                  </a:cubicBezTo>
                  <a:lnTo>
                    <a:pt x="0" y="7162"/>
                  </a:lnTo>
                  <a:cubicBezTo>
                    <a:pt x="0" y="5263"/>
                    <a:pt x="755" y="3441"/>
                    <a:pt x="2098" y="2098"/>
                  </a:cubicBezTo>
                  <a:cubicBezTo>
                    <a:pt x="3441" y="755"/>
                    <a:pt x="5263" y="0"/>
                    <a:pt x="71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47625"/>
              <a:ext cx="4270309" cy="1612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28700" y="3049356"/>
          <a:ext cx="16205445" cy="6303378"/>
        </p:xfrm>
        <a:graphic>
          <a:graphicData uri="http://schemas.openxmlformats.org/drawingml/2006/table">
            <a:tbl>
              <a:tblPr/>
              <a:tblGrid>
                <a:gridCol w="4436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5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518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Koho Bold"/>
                          <a:ea typeface="Koho Bold"/>
                          <a:cs typeface="Koho Bold"/>
                          <a:sym typeface="Koho Bold"/>
                        </a:rPr>
                        <a:t>Competitor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Koho Bold"/>
                          <a:ea typeface="Koho Bold"/>
                          <a:cs typeface="Koho Bold"/>
                          <a:sym typeface="Koho Bold"/>
                        </a:rPr>
                        <a:t>Main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Koho Bold"/>
                          <a:ea typeface="Koho Bold"/>
                          <a:cs typeface="Koho Bold"/>
                          <a:sym typeface="Koho Bold"/>
                        </a:rPr>
                        <a:t>Possible Weakness / Opportunity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18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Evergreen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Library automation, cataloguing, circulation, members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Can be complex for small local libraries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18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LibSys (central library)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Cataloguing, circulation, reports, member management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More suited to larger library networks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518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SLiMS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Library management, OPAC, circulation, reports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Can be costly for small libraries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518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eGranthalaya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Open-source library management, cataloguing, borrowing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Requires technical setup/customization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227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MyLibrary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Library automation, cataloguing, circulation, reports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Mainly designed for institutional/government libraries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518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Book/member management, issue-return tracking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Koho"/>
                          <a:ea typeface="Koho"/>
                          <a:cs typeface="Koho"/>
                          <a:sym typeface="Koho"/>
                        </a:rPr>
                        <a:t>Basic compared with modern cloud systems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768405" y="1618803"/>
            <a:ext cx="5386693" cy="31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1"/>
              </a:lnSpc>
            </a:pPr>
            <a:r>
              <a:rPr lang="en-US" sz="2371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COMPETITOR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5470" y="1316424"/>
            <a:ext cx="4832564" cy="869862"/>
          </a:xfrm>
          <a:custGeom>
            <a:avLst/>
            <a:gdLst/>
            <a:ahLst/>
            <a:cxnLst/>
            <a:rect l="l" t="t" r="r" b="b"/>
            <a:pathLst>
              <a:path w="4832564" h="869862">
                <a:moveTo>
                  <a:pt x="0" y="0"/>
                </a:moveTo>
                <a:lnTo>
                  <a:pt x="4832564" y="0"/>
                </a:lnTo>
                <a:lnTo>
                  <a:pt x="4832564" y="869862"/>
                </a:lnTo>
                <a:lnTo>
                  <a:pt x="0" y="86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5526" y="1028700"/>
            <a:ext cx="4032452" cy="124639"/>
          </a:xfrm>
          <a:custGeom>
            <a:avLst/>
            <a:gdLst/>
            <a:ahLst/>
            <a:cxnLst/>
            <a:rect l="l" t="t" r="r" b="b"/>
            <a:pathLst>
              <a:path w="4032452" h="124639">
                <a:moveTo>
                  <a:pt x="0" y="0"/>
                </a:moveTo>
                <a:lnTo>
                  <a:pt x="4032451" y="0"/>
                </a:lnTo>
                <a:lnTo>
                  <a:pt x="4032451" y="124639"/>
                </a:lnTo>
                <a:lnTo>
                  <a:pt x="0" y="124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11633272" y="9588182"/>
            <a:ext cx="5895301" cy="19050"/>
          </a:xfrm>
          <a:prstGeom prst="line">
            <a:avLst/>
          </a:prstGeom>
          <a:ln w="38100" cap="flat">
            <a:solidFill>
              <a:srgbClr val="D1D1D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759427" y="9597707"/>
            <a:ext cx="5895301" cy="19050"/>
          </a:xfrm>
          <a:prstGeom prst="line">
            <a:avLst/>
          </a:prstGeom>
          <a:ln w="38100" cap="flat">
            <a:solidFill>
              <a:srgbClr val="D1D1D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028700" y="2803558"/>
            <a:ext cx="16213830" cy="6454742"/>
            <a:chOff x="0" y="0"/>
            <a:chExt cx="4270309" cy="17000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70309" cy="1700014"/>
            </a:xfrm>
            <a:custGeom>
              <a:avLst/>
              <a:gdLst/>
              <a:ahLst/>
              <a:cxnLst/>
              <a:rect l="l" t="t" r="r" b="b"/>
              <a:pathLst>
                <a:path w="4270309" h="1700014">
                  <a:moveTo>
                    <a:pt x="7162" y="0"/>
                  </a:moveTo>
                  <a:lnTo>
                    <a:pt x="4263147" y="0"/>
                  </a:lnTo>
                  <a:cubicBezTo>
                    <a:pt x="4265046" y="0"/>
                    <a:pt x="4266868" y="755"/>
                    <a:pt x="4268211" y="2098"/>
                  </a:cubicBezTo>
                  <a:cubicBezTo>
                    <a:pt x="4269555" y="3441"/>
                    <a:pt x="4270309" y="5263"/>
                    <a:pt x="4270309" y="7162"/>
                  </a:cubicBezTo>
                  <a:lnTo>
                    <a:pt x="4270309" y="1692852"/>
                  </a:lnTo>
                  <a:cubicBezTo>
                    <a:pt x="4270309" y="1694752"/>
                    <a:pt x="4269555" y="1696573"/>
                    <a:pt x="4268211" y="1697917"/>
                  </a:cubicBezTo>
                  <a:cubicBezTo>
                    <a:pt x="4266868" y="1699260"/>
                    <a:pt x="4265046" y="1700014"/>
                    <a:pt x="4263147" y="1700014"/>
                  </a:cubicBezTo>
                  <a:lnTo>
                    <a:pt x="7162" y="1700014"/>
                  </a:lnTo>
                  <a:cubicBezTo>
                    <a:pt x="5263" y="1700014"/>
                    <a:pt x="3441" y="1699260"/>
                    <a:pt x="2098" y="1697917"/>
                  </a:cubicBezTo>
                  <a:cubicBezTo>
                    <a:pt x="755" y="1696573"/>
                    <a:pt x="0" y="1694752"/>
                    <a:pt x="0" y="1692852"/>
                  </a:cubicBezTo>
                  <a:lnTo>
                    <a:pt x="0" y="7162"/>
                  </a:lnTo>
                  <a:cubicBezTo>
                    <a:pt x="0" y="5263"/>
                    <a:pt x="755" y="3441"/>
                    <a:pt x="2098" y="2098"/>
                  </a:cubicBezTo>
                  <a:cubicBezTo>
                    <a:pt x="3441" y="755"/>
                    <a:pt x="5263" y="0"/>
                    <a:pt x="71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4270309" cy="1652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108038" y="3208487"/>
            <a:ext cx="9050467" cy="5656542"/>
          </a:xfrm>
          <a:custGeom>
            <a:avLst/>
            <a:gdLst/>
            <a:ahLst/>
            <a:cxnLst/>
            <a:rect l="l" t="t" r="r" b="b"/>
            <a:pathLst>
              <a:path w="9050467" h="5656542">
                <a:moveTo>
                  <a:pt x="0" y="0"/>
                </a:moveTo>
                <a:lnTo>
                  <a:pt x="9050467" y="0"/>
                </a:lnTo>
                <a:lnTo>
                  <a:pt x="9050467" y="5656542"/>
                </a:lnTo>
                <a:lnTo>
                  <a:pt x="0" y="5656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68405" y="1618803"/>
            <a:ext cx="5386693" cy="31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1"/>
              </a:lnSpc>
            </a:pPr>
            <a:r>
              <a:rPr lang="en-US" sz="2371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MARKET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81586" y="3591392"/>
            <a:ext cx="3835756" cy="1821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>
                <a:solidFill>
                  <a:srgbClr val="4E502E"/>
                </a:solidFill>
                <a:latin typeface="Poppins"/>
                <a:ea typeface="Poppins"/>
                <a:cs typeface="Poppins"/>
                <a:sym typeface="Poppins"/>
              </a:rPr>
              <a:t>India has over 70,000+ rural public libraries and Gram Panchayat reading rooms, alongside thousands of community-run, NGO-supported, and trust-managed libraries across rural states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1586" y="3313262"/>
            <a:ext cx="3504887" cy="27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1">
                <a:solidFill>
                  <a:srgbClr val="4E502E"/>
                </a:solidFill>
                <a:latin typeface="Poppins Bold"/>
                <a:ea typeface="Poppins Bold"/>
                <a:cs typeface="Poppins Bold"/>
                <a:sym typeface="Poppins Bold"/>
              </a:rPr>
              <a:t>Entire India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1586" y="5843102"/>
            <a:ext cx="3835756" cy="207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>
                <a:solidFill>
                  <a:srgbClr val="4E502E"/>
                </a:solidFill>
                <a:latin typeface="Poppins"/>
                <a:ea typeface="Poppins"/>
                <a:cs typeface="Poppins"/>
                <a:sym typeface="Poppins"/>
              </a:rPr>
              <a:t>Goa has over 140+ registered village, club, and NGO-run libraries across its 12 Talukas (such as Pernem, Sattari, Bicholim, and Salcete), anchored by the Directorate of Higher Education / Art &amp; Culture network.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1586" y="5564972"/>
            <a:ext cx="3504887" cy="27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1">
                <a:solidFill>
                  <a:srgbClr val="4E502E"/>
                </a:solidFill>
                <a:latin typeface="Poppins Bold"/>
                <a:ea typeface="Poppins Bold"/>
                <a:cs typeface="Poppins Bold"/>
                <a:sym typeface="Poppins Bold"/>
              </a:rPr>
              <a:t>Goa’s Market alone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096F94C8-DF51-B640-183E-9CEAE8C7FAA5}"/>
              </a:ext>
            </a:extLst>
          </p:cNvPr>
          <p:cNvSpPr txBox="1"/>
          <p:nvPr/>
        </p:nvSpPr>
        <p:spPr>
          <a:xfrm>
            <a:off x="4061933" y="9457483"/>
            <a:ext cx="10147364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b="1" dirty="0" err="1">
                <a:solidFill>
                  <a:srgbClr val="737373"/>
                </a:solidFill>
                <a:latin typeface="Koho Bold"/>
                <a:ea typeface="Koho Bold"/>
                <a:cs typeface="Koho Bold"/>
                <a:sym typeface="Koho Bold"/>
              </a:rPr>
              <a:t>LibGram</a:t>
            </a:r>
            <a:endParaRPr lang="en-US" sz="2400" b="1" dirty="0">
              <a:solidFill>
                <a:srgbClr val="737373"/>
              </a:solidFill>
              <a:latin typeface="Koho Bold"/>
              <a:ea typeface="Koho Bold"/>
              <a:cs typeface="Koho Bold"/>
              <a:sym typeface="Koho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5470" y="1316424"/>
            <a:ext cx="4832564" cy="869862"/>
          </a:xfrm>
          <a:custGeom>
            <a:avLst/>
            <a:gdLst/>
            <a:ahLst/>
            <a:cxnLst/>
            <a:rect l="l" t="t" r="r" b="b"/>
            <a:pathLst>
              <a:path w="4832564" h="869862">
                <a:moveTo>
                  <a:pt x="0" y="0"/>
                </a:moveTo>
                <a:lnTo>
                  <a:pt x="4832564" y="0"/>
                </a:lnTo>
                <a:lnTo>
                  <a:pt x="4832564" y="869862"/>
                </a:lnTo>
                <a:lnTo>
                  <a:pt x="0" y="86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5526" y="1028700"/>
            <a:ext cx="4032452" cy="124639"/>
          </a:xfrm>
          <a:custGeom>
            <a:avLst/>
            <a:gdLst/>
            <a:ahLst/>
            <a:cxnLst/>
            <a:rect l="l" t="t" r="r" b="b"/>
            <a:pathLst>
              <a:path w="4032452" h="124639">
                <a:moveTo>
                  <a:pt x="0" y="0"/>
                </a:moveTo>
                <a:lnTo>
                  <a:pt x="4032451" y="0"/>
                </a:lnTo>
                <a:lnTo>
                  <a:pt x="4032451" y="124639"/>
                </a:lnTo>
                <a:lnTo>
                  <a:pt x="0" y="124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40450" y="3274896"/>
            <a:ext cx="2437783" cy="2593386"/>
          </a:xfrm>
          <a:custGeom>
            <a:avLst/>
            <a:gdLst/>
            <a:ahLst/>
            <a:cxnLst/>
            <a:rect l="l" t="t" r="r" b="b"/>
            <a:pathLst>
              <a:path w="2437783" h="2593386">
                <a:moveTo>
                  <a:pt x="0" y="0"/>
                </a:moveTo>
                <a:lnTo>
                  <a:pt x="2437783" y="0"/>
                </a:lnTo>
                <a:lnTo>
                  <a:pt x="2437783" y="2593387"/>
                </a:lnTo>
                <a:lnTo>
                  <a:pt x="0" y="25933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45470" y="2944743"/>
            <a:ext cx="12116872" cy="3667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99"/>
              </a:lnSpc>
              <a:spcBef>
                <a:spcPct val="0"/>
              </a:spcBef>
            </a:pPr>
            <a:endParaRPr dirty="0"/>
          </a:p>
          <a:p>
            <a:pPr algn="just">
              <a:lnSpc>
                <a:spcPts val="2599"/>
              </a:lnSpc>
              <a:spcBef>
                <a:spcPct val="0"/>
              </a:spcBef>
            </a:pPr>
            <a:endParaRPr dirty="0"/>
          </a:p>
          <a:p>
            <a:pPr algn="just">
              <a:lnSpc>
                <a:spcPts val="259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000000"/>
                </a:solidFill>
                <a:latin typeface="Koho Bold"/>
                <a:ea typeface="Koho Bold"/>
                <a:cs typeface="Koho Bold"/>
                <a:sym typeface="Koho Bold"/>
              </a:rPr>
              <a:t> Java &amp; Swing: Meets OOP course requirements and supports desktop applications</a:t>
            </a:r>
          </a:p>
          <a:p>
            <a:pPr algn="just">
              <a:lnSpc>
                <a:spcPts val="2599"/>
              </a:lnSpc>
              <a:spcBef>
                <a:spcPct val="0"/>
              </a:spcBef>
            </a:pPr>
            <a:endParaRPr lang="en-US" sz="2599" b="1" dirty="0">
              <a:solidFill>
                <a:srgbClr val="000000"/>
              </a:solidFill>
              <a:latin typeface="Koho Bold"/>
              <a:ea typeface="Koho Bold"/>
              <a:cs typeface="Koho Bold"/>
              <a:sym typeface="Koho Bold"/>
            </a:endParaRPr>
          </a:p>
          <a:p>
            <a:pPr algn="just">
              <a:lnSpc>
                <a:spcPts val="259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000000"/>
                </a:solidFill>
                <a:latin typeface="Koho Bold"/>
                <a:ea typeface="Koho Bold"/>
                <a:cs typeface="Koho Bold"/>
                <a:sym typeface="Koho Bold"/>
              </a:rPr>
              <a:t> Offline Access: Runs without a browser or internet connection.</a:t>
            </a:r>
          </a:p>
          <a:p>
            <a:pPr algn="just">
              <a:lnSpc>
                <a:spcPts val="2599"/>
              </a:lnSpc>
              <a:spcBef>
                <a:spcPct val="0"/>
              </a:spcBef>
            </a:pPr>
            <a:endParaRPr lang="en-US" sz="2599" b="1" dirty="0">
              <a:solidFill>
                <a:srgbClr val="000000"/>
              </a:solidFill>
              <a:latin typeface="Koho Bold"/>
              <a:ea typeface="Koho Bold"/>
              <a:cs typeface="Koho Bold"/>
              <a:sym typeface="Koho Bold"/>
            </a:endParaRPr>
          </a:p>
          <a:p>
            <a:pPr algn="just">
              <a:lnSpc>
                <a:spcPts val="259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000000"/>
                </a:solidFill>
                <a:latin typeface="Koho Bold"/>
                <a:ea typeface="Koho Bold"/>
                <a:cs typeface="Koho Bold"/>
                <a:sym typeface="Koho Bold"/>
              </a:rPr>
              <a:t> CSV File Storage: Simple, easy to inspect, and convenient for backups.</a:t>
            </a:r>
          </a:p>
          <a:p>
            <a:pPr algn="just">
              <a:lnSpc>
                <a:spcPts val="2599"/>
              </a:lnSpc>
              <a:spcBef>
                <a:spcPct val="0"/>
              </a:spcBef>
            </a:pPr>
            <a:endParaRPr lang="en-US" sz="2599" b="1" dirty="0">
              <a:solidFill>
                <a:srgbClr val="000000"/>
              </a:solidFill>
              <a:latin typeface="Koho Bold"/>
              <a:ea typeface="Koho Bold"/>
              <a:cs typeface="Koho Bold"/>
              <a:sym typeface="Koho Bold"/>
            </a:endParaRPr>
          </a:p>
          <a:p>
            <a:pPr algn="just">
              <a:lnSpc>
                <a:spcPts val="259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000000"/>
                </a:solidFill>
                <a:latin typeface="Koho Bold"/>
                <a:ea typeface="Koho Bold"/>
                <a:cs typeface="Koho Bold"/>
                <a:sym typeface="Koho Bold"/>
              </a:rPr>
              <a:t> Limitations: Limited multi-computer data sharing; Java 21 runtime/bundle  required.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8405" y="1618803"/>
            <a:ext cx="5386693" cy="3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1"/>
              </a:lnSpc>
            </a:pPr>
            <a:r>
              <a:rPr lang="en-US" sz="2371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TECHNOLOGY SELECTION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9966F1B-4F61-0791-4717-DC692C2D0FA8}"/>
              </a:ext>
            </a:extLst>
          </p:cNvPr>
          <p:cNvSpPr txBox="1"/>
          <p:nvPr/>
        </p:nvSpPr>
        <p:spPr>
          <a:xfrm>
            <a:off x="4074510" y="9117012"/>
            <a:ext cx="10147364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b="1" dirty="0" err="1">
                <a:solidFill>
                  <a:srgbClr val="737373"/>
                </a:solidFill>
                <a:latin typeface="Koho Bold"/>
                <a:ea typeface="Koho Bold"/>
                <a:cs typeface="Koho Bold"/>
                <a:sym typeface="Koho Bold"/>
              </a:rPr>
              <a:t>LibGram</a:t>
            </a:r>
            <a:endParaRPr lang="en-US" sz="2400" b="1" dirty="0">
              <a:solidFill>
                <a:srgbClr val="737373"/>
              </a:solidFill>
              <a:latin typeface="Koho Bold"/>
              <a:ea typeface="Koho Bold"/>
              <a:cs typeface="Koho Bold"/>
              <a:sym typeface="Koho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5470" y="1316424"/>
            <a:ext cx="4832564" cy="869862"/>
          </a:xfrm>
          <a:custGeom>
            <a:avLst/>
            <a:gdLst/>
            <a:ahLst/>
            <a:cxnLst/>
            <a:rect l="l" t="t" r="r" b="b"/>
            <a:pathLst>
              <a:path w="4832564" h="869862">
                <a:moveTo>
                  <a:pt x="0" y="0"/>
                </a:moveTo>
                <a:lnTo>
                  <a:pt x="4832564" y="0"/>
                </a:lnTo>
                <a:lnTo>
                  <a:pt x="4832564" y="869862"/>
                </a:lnTo>
                <a:lnTo>
                  <a:pt x="0" y="86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5526" y="1028700"/>
            <a:ext cx="4032452" cy="124639"/>
          </a:xfrm>
          <a:custGeom>
            <a:avLst/>
            <a:gdLst/>
            <a:ahLst/>
            <a:cxnLst/>
            <a:rect l="l" t="t" r="r" b="b"/>
            <a:pathLst>
              <a:path w="4032452" h="124639">
                <a:moveTo>
                  <a:pt x="0" y="0"/>
                </a:moveTo>
                <a:lnTo>
                  <a:pt x="4032451" y="0"/>
                </a:lnTo>
                <a:lnTo>
                  <a:pt x="4032451" y="124639"/>
                </a:lnTo>
                <a:lnTo>
                  <a:pt x="0" y="124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11633272" y="9588182"/>
            <a:ext cx="5895301" cy="19050"/>
          </a:xfrm>
          <a:prstGeom prst="line">
            <a:avLst/>
          </a:prstGeom>
          <a:ln w="38100" cap="flat">
            <a:solidFill>
              <a:srgbClr val="D1D1D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759427" y="9597707"/>
            <a:ext cx="5895301" cy="19050"/>
          </a:xfrm>
          <a:prstGeom prst="line">
            <a:avLst/>
          </a:prstGeom>
          <a:ln w="38100" cap="flat">
            <a:solidFill>
              <a:srgbClr val="D1D1D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045470" y="2700805"/>
            <a:ext cx="4965303" cy="5585458"/>
            <a:chOff x="0" y="0"/>
            <a:chExt cx="1307734" cy="14710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7734" cy="1471067"/>
            </a:xfrm>
            <a:custGeom>
              <a:avLst/>
              <a:gdLst/>
              <a:ahLst/>
              <a:cxnLst/>
              <a:rect l="l" t="t" r="r" b="b"/>
              <a:pathLst>
                <a:path w="1307734" h="1471067">
                  <a:moveTo>
                    <a:pt x="23388" y="0"/>
                  </a:moveTo>
                  <a:lnTo>
                    <a:pt x="1284346" y="0"/>
                  </a:lnTo>
                  <a:cubicBezTo>
                    <a:pt x="1290549" y="0"/>
                    <a:pt x="1296498" y="2464"/>
                    <a:pt x="1300884" y="6850"/>
                  </a:cubicBezTo>
                  <a:cubicBezTo>
                    <a:pt x="1305270" y="11236"/>
                    <a:pt x="1307734" y="17185"/>
                    <a:pt x="1307734" y="23388"/>
                  </a:cubicBezTo>
                  <a:lnTo>
                    <a:pt x="1307734" y="1447679"/>
                  </a:lnTo>
                  <a:cubicBezTo>
                    <a:pt x="1307734" y="1453882"/>
                    <a:pt x="1305270" y="1459831"/>
                    <a:pt x="1300884" y="1464217"/>
                  </a:cubicBezTo>
                  <a:cubicBezTo>
                    <a:pt x="1296498" y="1468603"/>
                    <a:pt x="1290549" y="1471067"/>
                    <a:pt x="1284346" y="1471067"/>
                  </a:cubicBezTo>
                  <a:lnTo>
                    <a:pt x="23388" y="1471067"/>
                  </a:lnTo>
                  <a:cubicBezTo>
                    <a:pt x="17185" y="1471067"/>
                    <a:pt x="11236" y="1468603"/>
                    <a:pt x="6850" y="1464217"/>
                  </a:cubicBezTo>
                  <a:cubicBezTo>
                    <a:pt x="2464" y="1459831"/>
                    <a:pt x="0" y="1453882"/>
                    <a:pt x="0" y="1447679"/>
                  </a:cubicBezTo>
                  <a:lnTo>
                    <a:pt x="0" y="23388"/>
                  </a:lnTo>
                  <a:cubicBezTo>
                    <a:pt x="0" y="17185"/>
                    <a:pt x="2464" y="11236"/>
                    <a:pt x="6850" y="6850"/>
                  </a:cubicBezTo>
                  <a:cubicBezTo>
                    <a:pt x="11236" y="2464"/>
                    <a:pt x="17185" y="0"/>
                    <a:pt x="23388" y="0"/>
                  </a:cubicBezTo>
                  <a:close/>
                </a:path>
              </a:pathLst>
            </a:custGeom>
            <a:solidFill>
              <a:srgbClr val="D1D1D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1307734" cy="1423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9733" y="2700805"/>
            <a:ext cx="4965303" cy="5585458"/>
            <a:chOff x="0" y="0"/>
            <a:chExt cx="1307734" cy="14710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7734" cy="1471067"/>
            </a:xfrm>
            <a:custGeom>
              <a:avLst/>
              <a:gdLst/>
              <a:ahLst/>
              <a:cxnLst/>
              <a:rect l="l" t="t" r="r" b="b"/>
              <a:pathLst>
                <a:path w="1307734" h="1471067">
                  <a:moveTo>
                    <a:pt x="23388" y="0"/>
                  </a:moveTo>
                  <a:lnTo>
                    <a:pt x="1284346" y="0"/>
                  </a:lnTo>
                  <a:cubicBezTo>
                    <a:pt x="1290549" y="0"/>
                    <a:pt x="1296498" y="2464"/>
                    <a:pt x="1300884" y="6850"/>
                  </a:cubicBezTo>
                  <a:cubicBezTo>
                    <a:pt x="1305270" y="11236"/>
                    <a:pt x="1307734" y="17185"/>
                    <a:pt x="1307734" y="23388"/>
                  </a:cubicBezTo>
                  <a:lnTo>
                    <a:pt x="1307734" y="1447679"/>
                  </a:lnTo>
                  <a:cubicBezTo>
                    <a:pt x="1307734" y="1453882"/>
                    <a:pt x="1305270" y="1459831"/>
                    <a:pt x="1300884" y="1464217"/>
                  </a:cubicBezTo>
                  <a:cubicBezTo>
                    <a:pt x="1296498" y="1468603"/>
                    <a:pt x="1290549" y="1471067"/>
                    <a:pt x="1284346" y="1471067"/>
                  </a:cubicBezTo>
                  <a:lnTo>
                    <a:pt x="23388" y="1471067"/>
                  </a:lnTo>
                  <a:cubicBezTo>
                    <a:pt x="17185" y="1471067"/>
                    <a:pt x="11236" y="1468603"/>
                    <a:pt x="6850" y="1464217"/>
                  </a:cubicBezTo>
                  <a:cubicBezTo>
                    <a:pt x="2464" y="1459831"/>
                    <a:pt x="0" y="1453882"/>
                    <a:pt x="0" y="1447679"/>
                  </a:cubicBezTo>
                  <a:lnTo>
                    <a:pt x="0" y="23388"/>
                  </a:lnTo>
                  <a:cubicBezTo>
                    <a:pt x="0" y="17185"/>
                    <a:pt x="2464" y="11236"/>
                    <a:pt x="6850" y="6850"/>
                  </a:cubicBezTo>
                  <a:cubicBezTo>
                    <a:pt x="11236" y="2464"/>
                    <a:pt x="17185" y="0"/>
                    <a:pt x="23388" y="0"/>
                  </a:cubicBezTo>
                  <a:close/>
                </a:path>
              </a:pathLst>
            </a:custGeom>
            <a:solidFill>
              <a:srgbClr val="D1D1D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47625"/>
              <a:ext cx="1307734" cy="1423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293997" y="2700805"/>
            <a:ext cx="4965303" cy="5585458"/>
            <a:chOff x="0" y="0"/>
            <a:chExt cx="1307734" cy="14710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07734" cy="1471067"/>
            </a:xfrm>
            <a:custGeom>
              <a:avLst/>
              <a:gdLst/>
              <a:ahLst/>
              <a:cxnLst/>
              <a:rect l="l" t="t" r="r" b="b"/>
              <a:pathLst>
                <a:path w="1307734" h="1471067">
                  <a:moveTo>
                    <a:pt x="23388" y="0"/>
                  </a:moveTo>
                  <a:lnTo>
                    <a:pt x="1284346" y="0"/>
                  </a:lnTo>
                  <a:cubicBezTo>
                    <a:pt x="1290549" y="0"/>
                    <a:pt x="1296498" y="2464"/>
                    <a:pt x="1300884" y="6850"/>
                  </a:cubicBezTo>
                  <a:cubicBezTo>
                    <a:pt x="1305270" y="11236"/>
                    <a:pt x="1307734" y="17185"/>
                    <a:pt x="1307734" y="23388"/>
                  </a:cubicBezTo>
                  <a:lnTo>
                    <a:pt x="1307734" y="1447679"/>
                  </a:lnTo>
                  <a:cubicBezTo>
                    <a:pt x="1307734" y="1453882"/>
                    <a:pt x="1305270" y="1459831"/>
                    <a:pt x="1300884" y="1464217"/>
                  </a:cubicBezTo>
                  <a:cubicBezTo>
                    <a:pt x="1296498" y="1468603"/>
                    <a:pt x="1290549" y="1471067"/>
                    <a:pt x="1284346" y="1471067"/>
                  </a:cubicBezTo>
                  <a:lnTo>
                    <a:pt x="23388" y="1471067"/>
                  </a:lnTo>
                  <a:cubicBezTo>
                    <a:pt x="17185" y="1471067"/>
                    <a:pt x="11236" y="1468603"/>
                    <a:pt x="6850" y="1464217"/>
                  </a:cubicBezTo>
                  <a:cubicBezTo>
                    <a:pt x="2464" y="1459831"/>
                    <a:pt x="0" y="1453882"/>
                    <a:pt x="0" y="1447679"/>
                  </a:cubicBezTo>
                  <a:lnTo>
                    <a:pt x="0" y="23388"/>
                  </a:lnTo>
                  <a:cubicBezTo>
                    <a:pt x="0" y="17185"/>
                    <a:pt x="2464" y="11236"/>
                    <a:pt x="6850" y="6850"/>
                  </a:cubicBezTo>
                  <a:cubicBezTo>
                    <a:pt x="11236" y="2464"/>
                    <a:pt x="17185" y="0"/>
                    <a:pt x="23388" y="0"/>
                  </a:cubicBezTo>
                  <a:close/>
                </a:path>
              </a:pathLst>
            </a:custGeom>
            <a:solidFill>
              <a:srgbClr val="D1D1D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47625"/>
              <a:ext cx="1307734" cy="1423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2669695" y="3286646"/>
            <a:ext cx="1404816" cy="1422926"/>
          </a:xfrm>
          <a:custGeom>
            <a:avLst/>
            <a:gdLst/>
            <a:ahLst/>
            <a:cxnLst/>
            <a:rect l="l" t="t" r="r" b="b"/>
            <a:pathLst>
              <a:path w="1404816" h="1422926">
                <a:moveTo>
                  <a:pt x="0" y="0"/>
                </a:moveTo>
                <a:lnTo>
                  <a:pt x="1404815" y="0"/>
                </a:lnTo>
                <a:lnTo>
                  <a:pt x="1404815" y="1422926"/>
                </a:lnTo>
                <a:lnTo>
                  <a:pt x="0" y="1422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461307" y="3286646"/>
            <a:ext cx="1373770" cy="1422926"/>
          </a:xfrm>
          <a:custGeom>
            <a:avLst/>
            <a:gdLst/>
            <a:ahLst/>
            <a:cxnLst/>
            <a:rect l="l" t="t" r="r" b="b"/>
            <a:pathLst>
              <a:path w="1373770" h="1422926">
                <a:moveTo>
                  <a:pt x="0" y="0"/>
                </a:moveTo>
                <a:lnTo>
                  <a:pt x="1373770" y="0"/>
                </a:lnTo>
                <a:lnTo>
                  <a:pt x="1373770" y="1422926"/>
                </a:lnTo>
                <a:lnTo>
                  <a:pt x="0" y="1422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093383" y="3286646"/>
            <a:ext cx="1366531" cy="1366531"/>
          </a:xfrm>
          <a:custGeom>
            <a:avLst/>
            <a:gdLst/>
            <a:ahLst/>
            <a:cxnLst/>
            <a:rect l="l" t="t" r="r" b="b"/>
            <a:pathLst>
              <a:path w="1366531" h="1366531">
                <a:moveTo>
                  <a:pt x="0" y="0"/>
                </a:moveTo>
                <a:lnTo>
                  <a:pt x="1366531" y="0"/>
                </a:lnTo>
                <a:lnTo>
                  <a:pt x="1366531" y="1366531"/>
                </a:lnTo>
                <a:lnTo>
                  <a:pt x="0" y="1366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68405" y="1618803"/>
            <a:ext cx="5386693" cy="3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1"/>
              </a:lnSpc>
            </a:pPr>
            <a:r>
              <a:rPr lang="en-US" sz="2371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REVENUE MODEL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02036" y="8762683"/>
            <a:ext cx="1014736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737373"/>
                </a:solidFill>
                <a:latin typeface="Koho"/>
                <a:ea typeface="Koho"/>
                <a:cs typeface="Koho"/>
                <a:sym typeface="Koho"/>
              </a:rPr>
              <a:t>Presented by Yeshwant &amp; Yash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070318" y="9478421"/>
            <a:ext cx="10147364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b="1" dirty="0">
                <a:solidFill>
                  <a:srgbClr val="737373"/>
                </a:solidFill>
                <a:latin typeface="Koho Bold"/>
                <a:ea typeface="Koho Bold"/>
                <a:cs typeface="Koho Bold"/>
                <a:sym typeface="Koho Bold"/>
              </a:rPr>
              <a:t>Lib-Gram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6300" y="5119147"/>
            <a:ext cx="4230903" cy="207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>
                <a:solidFill>
                  <a:srgbClr val="4E502E"/>
                </a:solidFill>
                <a:latin typeface="Poppins"/>
                <a:ea typeface="Poppins"/>
                <a:cs typeface="Poppins"/>
                <a:sym typeface="Poppins"/>
              </a:rPr>
              <a:t>Provide platform to individual collectors to showcase, lend and keep track of their books.</a:t>
            </a:r>
          </a:p>
          <a:p>
            <a:pPr algn="l">
              <a:lnSpc>
                <a:spcPts val="2070"/>
              </a:lnSpc>
            </a:pPr>
            <a:endParaRPr lang="en-US" sz="1800">
              <a:solidFill>
                <a:srgbClr val="4E50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070"/>
              </a:lnSpc>
            </a:pPr>
            <a:r>
              <a:rPr lang="en-US" sz="1800">
                <a:solidFill>
                  <a:srgbClr val="4E502E"/>
                </a:solidFill>
                <a:latin typeface="Poppins"/>
                <a:ea typeface="Poppins"/>
                <a:cs typeface="Poppins"/>
                <a:sym typeface="Poppins"/>
              </a:rPr>
              <a:t>Lender can also charge the borrower a small base amount per book and/or opt for delay charges incase the books aren’t returned in time.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28549" y="5119147"/>
            <a:ext cx="4230903" cy="18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dirty="0">
                <a:solidFill>
                  <a:srgbClr val="4E502E"/>
                </a:solidFill>
                <a:latin typeface="Poppins"/>
                <a:ea typeface="Poppins"/>
                <a:cs typeface="Poppins"/>
                <a:sym typeface="Poppins"/>
              </a:rPr>
              <a:t>Village libraries charge a small fee per day per book delayed.</a:t>
            </a:r>
          </a:p>
          <a:p>
            <a:pPr algn="l">
              <a:lnSpc>
                <a:spcPts val="2070"/>
              </a:lnSpc>
            </a:pPr>
            <a:endParaRPr lang="en-US" sz="1800" dirty="0">
              <a:solidFill>
                <a:srgbClr val="4E50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070"/>
              </a:lnSpc>
            </a:pPr>
            <a:r>
              <a:rPr lang="en-US" sz="1800" dirty="0">
                <a:solidFill>
                  <a:srgbClr val="4E502E"/>
                </a:solidFill>
                <a:latin typeface="Poppins"/>
                <a:ea typeface="Poppins"/>
                <a:cs typeface="Poppins"/>
                <a:sym typeface="Poppins"/>
              </a:rPr>
              <a:t>Libraries also need the base software + an optional online database incase the local device storage ran in to issues.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54041" y="5133975"/>
            <a:ext cx="4228446" cy="2592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>
                <a:solidFill>
                  <a:srgbClr val="4E502E"/>
                </a:solidFill>
                <a:latin typeface="Poppins"/>
                <a:ea typeface="Poppins"/>
                <a:cs typeface="Poppins"/>
                <a:sym typeface="Poppins"/>
              </a:rPr>
              <a:t>Providing a online platform to both individuals and libraries to handle financial transactions will earn us a platform fee per transaction.</a:t>
            </a:r>
          </a:p>
          <a:p>
            <a:pPr algn="l">
              <a:lnSpc>
                <a:spcPts val="2070"/>
              </a:lnSpc>
            </a:pPr>
            <a:endParaRPr lang="en-US" sz="1800">
              <a:solidFill>
                <a:srgbClr val="4E50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070"/>
              </a:lnSpc>
            </a:pPr>
            <a:r>
              <a:rPr lang="en-US" sz="1800">
                <a:solidFill>
                  <a:srgbClr val="4E502E"/>
                </a:solidFill>
                <a:latin typeface="Poppins"/>
                <a:ea typeface="Poppins"/>
                <a:cs typeface="Poppins"/>
                <a:sym typeface="Poppins"/>
              </a:rPr>
              <a:t>Providing a online backup database could be a premium service.</a:t>
            </a:r>
          </a:p>
          <a:p>
            <a:pPr algn="l">
              <a:lnSpc>
                <a:spcPts val="2070"/>
              </a:lnSpc>
            </a:pPr>
            <a:endParaRPr lang="en-US" sz="1800">
              <a:solidFill>
                <a:srgbClr val="4E50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070"/>
              </a:lnSpc>
            </a:pPr>
            <a:r>
              <a:rPr lang="en-US" sz="1800">
                <a:solidFill>
                  <a:srgbClr val="4E502E"/>
                </a:solidFill>
                <a:latin typeface="Poppins"/>
                <a:ea typeface="Poppins"/>
                <a:cs typeface="Poppins"/>
                <a:sym typeface="Poppins"/>
              </a:rPr>
              <a:t>base establishment cost for village libraries.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11928" y="3859727"/>
            <a:ext cx="14264144" cy="2567546"/>
          </a:xfrm>
          <a:custGeom>
            <a:avLst/>
            <a:gdLst/>
            <a:ahLst/>
            <a:cxnLst/>
            <a:rect l="l" t="t" r="r" b="b"/>
            <a:pathLst>
              <a:path w="14264144" h="2567546">
                <a:moveTo>
                  <a:pt x="0" y="0"/>
                </a:moveTo>
                <a:lnTo>
                  <a:pt x="14264144" y="0"/>
                </a:lnTo>
                <a:lnTo>
                  <a:pt x="14264144" y="2567546"/>
                </a:lnTo>
                <a:lnTo>
                  <a:pt x="0" y="2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94125" y="4735503"/>
            <a:ext cx="15899751" cy="939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</a:pPr>
            <a:r>
              <a:rPr lang="en-US" sz="7000" b="1">
                <a:solidFill>
                  <a:srgbClr val="000000"/>
                </a:solidFill>
                <a:latin typeface="Monda Bold"/>
                <a:ea typeface="Monda Bold"/>
                <a:cs typeface="Monda Bold"/>
                <a:sym typeface="Mond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2011928" y="3555172"/>
            <a:ext cx="4032452" cy="124639"/>
          </a:xfrm>
          <a:custGeom>
            <a:avLst/>
            <a:gdLst/>
            <a:ahLst/>
            <a:cxnLst/>
            <a:rect l="l" t="t" r="r" b="b"/>
            <a:pathLst>
              <a:path w="4032452" h="124639">
                <a:moveTo>
                  <a:pt x="0" y="0"/>
                </a:moveTo>
                <a:lnTo>
                  <a:pt x="4032452" y="0"/>
                </a:lnTo>
                <a:lnTo>
                  <a:pt x="4032452" y="124640"/>
                </a:lnTo>
                <a:lnTo>
                  <a:pt x="0" y="124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849236" y="6497073"/>
            <a:ext cx="442683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737373"/>
                </a:solidFill>
                <a:latin typeface="Koho"/>
                <a:ea typeface="Koho"/>
                <a:cs typeface="Koho"/>
                <a:sym typeface="Koho"/>
              </a:rPr>
              <a:t>Presented by Yeshwant &amp; Yash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45578" y="6851403"/>
            <a:ext cx="442683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400" b="1" dirty="0" err="1">
                <a:solidFill>
                  <a:srgbClr val="737373"/>
                </a:solidFill>
                <a:latin typeface="Koho Bold"/>
                <a:ea typeface="Koho Bold"/>
                <a:cs typeface="Koho Bold"/>
                <a:sym typeface="Koho Bold"/>
              </a:rPr>
              <a:t>LibGram</a:t>
            </a:r>
            <a:endParaRPr lang="en-US" sz="2400" b="1" dirty="0">
              <a:solidFill>
                <a:srgbClr val="737373"/>
              </a:solidFill>
              <a:latin typeface="Koho Bold"/>
              <a:ea typeface="Koho Bold"/>
              <a:cs typeface="Koho Bold"/>
              <a:sym typeface="Koho Bold"/>
            </a:endParaRPr>
          </a:p>
          <a:p>
            <a:pPr algn="r">
              <a:lnSpc>
                <a:spcPts val="2400"/>
              </a:lnSpc>
            </a:pPr>
            <a:endParaRPr lang="en-US" sz="2400" b="1" dirty="0">
              <a:solidFill>
                <a:srgbClr val="737373"/>
              </a:solidFill>
              <a:latin typeface="Koho Bold"/>
              <a:ea typeface="Koho Bold"/>
              <a:cs typeface="Koho Bold"/>
              <a:sym typeface="Koh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845578" y="7204463"/>
            <a:ext cx="4426836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737373"/>
                </a:solidFill>
                <a:latin typeface="Koho"/>
                <a:ea typeface="Koho"/>
                <a:cs typeface="Koho"/>
                <a:sym typeface="Koho"/>
              </a:rPr>
              <a:t>2026-2027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460</Words>
  <Application>Microsoft Office PowerPoint</Application>
  <PresentationFormat>Custom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Koho Bold</vt:lpstr>
      <vt:lpstr>Poppins</vt:lpstr>
      <vt:lpstr>Koho</vt:lpstr>
      <vt:lpstr>Calibri</vt:lpstr>
      <vt:lpstr>Arial</vt:lpstr>
      <vt:lpstr>Monda Bold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cp:lastModifiedBy>yeshwant shetgaonkar</cp:lastModifiedBy>
  <cp:revision>3</cp:revision>
  <dcterms:created xsi:type="dcterms:W3CDTF">2006-08-16T00:00:00Z</dcterms:created>
  <dcterms:modified xsi:type="dcterms:W3CDTF">2026-10-29T07:32:54Z</dcterms:modified>
  <dc:identifier>DAHSnGwx3f8</dc:identifier>
</cp:coreProperties>
</file>